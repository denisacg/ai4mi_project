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0031"/>
          </a:solidFill>
          <a:ln/>
        </p:spPr>
      </p:sp>
      <p:pic>
        <p:nvPicPr>
          <p:cNvPr id="3" name="Image 0" descr="/Users/bellavg/ProjectsMSc/ai4mi_project/deck/assets/uva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2377440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Multi-Organ CT Segmentation on SegTHOR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749808" y="3063240"/>
            <a:ext cx="1463040" cy="45720"/>
          </a:xfrm>
          <a:prstGeom prst="rect">
            <a:avLst/>
          </a:prstGeom>
          <a:solidFill>
            <a:srgbClr val="BC003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Mid-project presentation — esophagus, heart, trachea and aorta segmentation from thoracic CT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names · Group 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September 2026 · 8 slides, 6:40 + buffer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1D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0:40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Motivation: Organs at Risk in Thoracic 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1F1D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why this matters clinically</a:t>
            </a:r>
            <a:endParaRPr lang="en-US" sz="1600" dirty="0"/>
          </a:p>
          <a:p>
            <a:pPr lvl="1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the manual-contouring pain point, if using one</a:t>
            </a:r>
            <a:endParaRPr lang="en-US" sz="16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Task: 3D thoracic CT → esophagus, heart, trachea, aorta</a:t>
            </a:r>
            <a:endParaRPr lang="en-US" sz="1600" dirty="0"/>
          </a:p>
        </p:txBody>
      </p:sp>
      <p:pic>
        <p:nvPicPr>
          <p:cNvPr id="8" name="Image 0" descr="/Users/bellavg/ProjectsMSc/ai4mi_project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C003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C00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INTEGRITY — STEP 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Validation: Correcting the Aorta Label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BC003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how the mislabeling was found and fixed</a:t>
            </a:r>
            <a:endParaRPr lang="en-US" sz="16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real per-class voxel share, now corrected — as numbers, not a bar chart</a:t>
            </a:r>
            <a:endParaRPr lang="en-US" sz="16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any other integrity checks run (e.g. alignment)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920" y="1783080"/>
            <a:ext cx="4160520" cy="3931920"/>
          </a:xfrm>
          <a:prstGeom prst="rect">
            <a:avLst/>
          </a:prstGeom>
          <a:solidFill>
            <a:srgbClr val="F7E8EC"/>
          </a:solidFill>
          <a:ln/>
        </p:spPr>
      </p:sp>
      <p:sp>
        <p:nvSpPr>
          <p:cNvPr id="9" name="Shape 7"/>
          <p:cNvSpPr/>
          <p:nvPr/>
        </p:nvSpPr>
        <p:spPr>
          <a:xfrm>
            <a:off x="7360920" y="1783080"/>
            <a:ext cx="54864" cy="3931920"/>
          </a:xfrm>
          <a:prstGeom prst="rect">
            <a:avLst/>
          </a:prstGeom>
          <a:solidFill>
            <a:srgbClr val="BC003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35240" y="1965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00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286000"/>
            <a:ext cx="3611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Aorta (label 4) was mislabeled — 0 / 20 patients had it before the fix. Caught and corrected before any preprocessing or training ran on it.</a:t>
            </a:r>
            <a:endParaRPr lang="en-US" sz="1350" dirty="0"/>
          </a:p>
        </p:txBody>
      </p:sp>
      <p:pic>
        <p:nvPicPr>
          <p:cNvPr id="12" name="Image 0" descr="/Users/bellavg/ProjectsMSc/ai4mi_project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EXPLORATION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Analysis I: Acquisition Geometry</a:t>
            </a:r>
            <a:endParaRPr lang="en-US" sz="2600" dirty="0"/>
          </a:p>
        </p:txBody>
      </p:sp>
      <p:pic>
        <p:nvPicPr>
          <p:cNvPr id="6" name="Image 0" descr="/Users/bellavg/ProjectsMSc/ai4mi_project/figures/profile/scan_geometry/field_of_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34440"/>
            <a:ext cx="7134860" cy="4846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18320" y="12344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418320" y="1508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voxel spacing across patients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slice count / scan length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418320" y="2697480"/>
            <a:ext cx="2331720" cy="3383280"/>
          </a:xfrm>
          <a:prstGeom prst="rect">
            <a:avLst/>
          </a:prstGeom>
          <a:solidFill>
            <a:srgbClr val="FCEEDC"/>
          </a:solidFill>
          <a:ln/>
        </p:spPr>
      </p:sp>
      <p:sp>
        <p:nvSpPr>
          <p:cNvPr id="10" name="Shape 7"/>
          <p:cNvSpPr/>
          <p:nvPr/>
        </p:nvSpPr>
        <p:spPr>
          <a:xfrm>
            <a:off x="9418320" y="2697480"/>
            <a:ext cx="54864" cy="338328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9264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 LEARN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3200400"/>
            <a:ext cx="1783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what this implies</a:t>
            </a:r>
            <a:endParaRPr lang="en-US" sz="1350" dirty="0"/>
          </a:p>
        </p:txBody>
      </p:sp>
      <p:pic>
        <p:nvPicPr>
          <p:cNvPr id="13" name="Image 1" descr="/Users/bellavg/ProjectsMSc/ai4mi_project/deck/assets/uva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EXPLORATION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Analysis II: Whole-Scan &amp; Per-Organ Intensity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whole-scan HU distribution</a:t>
            </a:r>
            <a:endParaRPr lang="en-US" sz="16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per-organ HU, esp. aorta vs. heart</a:t>
            </a:r>
            <a:endParaRPr lang="en-US" sz="16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what this implies</a:t>
            </a:r>
            <a:endParaRPr lang="en-US" sz="1600" dirty="0"/>
          </a:p>
        </p:txBody>
      </p:sp>
      <p:pic>
        <p:nvPicPr>
          <p:cNvPr id="8" name="Image 0" descr="/Users/bellavg/ProjectsMSc/ai4mi_project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EXPLORATION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Analysis III: Label Topology &amp; Adjacency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TOPOLOGY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connected components per label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fragmentation risk, if any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7830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ADJACENCY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148840"/>
            <a:ext cx="5257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contact between label pairs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which pairs matter most, now that aorta is real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1783080"/>
            <a:ext cx="13716" cy="4206240"/>
          </a:xfrm>
          <a:prstGeom prst="rect">
            <a:avLst/>
          </a:prstGeom>
          <a:solidFill>
            <a:srgbClr val="E3E3E3"/>
          </a:solidFill>
          <a:ln/>
        </p:spPr>
      </p:sp>
      <p:pic>
        <p:nvPicPr>
          <p:cNvPr id="12" name="Image 0" descr="/Users/bellavg/ProjectsMSc/ai4mi_project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EXPLORATION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Analysis IV: Spatial Distribution &amp; Extent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5074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where each organ sits in 3D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7830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148840"/>
            <a:ext cx="5257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coverage along the body axis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1783080"/>
            <a:ext cx="13716" cy="288036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4892040"/>
            <a:ext cx="10881360" cy="914400"/>
          </a:xfrm>
          <a:prstGeom prst="rect">
            <a:avLst/>
          </a:prstGeom>
          <a:solidFill>
            <a:srgbClr val="FCEED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892040"/>
            <a:ext cx="54864" cy="914400"/>
          </a:xfrm>
          <a:prstGeom prst="rect">
            <a:avLst/>
          </a:prstGeom>
          <a:solidFill>
            <a:srgbClr val="E98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749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8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39496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how position and extent inform the preprocessing decisions on the next slide.</a:t>
            </a:r>
            <a:endParaRPr lang="en-US" sz="1350" dirty="0"/>
          </a:p>
        </p:txBody>
      </p:sp>
      <p:pic>
        <p:nvPicPr>
          <p:cNvPr id="16" name="Image 0" descr="/Users/bellavg/ProjectsMSc/ai4mi_project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E9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4E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0:55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Preprocessing: From Measurement to Method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004E92"/>
          </a:solidFill>
          <a:ln/>
        </p:spPr>
      </p:sp>
      <p:sp>
        <p:nvSpPr>
          <p:cNvPr id="7" name="Shape 5"/>
          <p:cNvSpPr/>
          <p:nvPr/>
        </p:nvSpPr>
        <p:spPr>
          <a:xfrm>
            <a:off x="2069592" y="1965960"/>
            <a:ext cx="585216" cy="585216"/>
          </a:xfrm>
          <a:prstGeom prst="ellipse">
            <a:avLst/>
          </a:prstGeom>
          <a:solidFill>
            <a:srgbClr val="004E9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6959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15768"/>
            <a:ext cx="344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344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[TODO], motivated by the geometry measurement (slide 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93464" y="2194560"/>
            <a:ext cx="237744" cy="128016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5788152" y="1965960"/>
            <a:ext cx="585216" cy="585216"/>
          </a:xfrm>
          <a:prstGeom prst="ellipse">
            <a:avLst/>
          </a:prstGeom>
          <a:solidFill>
            <a:srgbClr val="004E9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8815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358640" y="2715768"/>
            <a:ext cx="344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358640" y="3154680"/>
            <a:ext cx="344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[TODO], motivated by the intensity measurement (slide 3)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2024" y="2194560"/>
            <a:ext cx="237744" cy="128016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6712" y="1965960"/>
            <a:ext cx="585216" cy="585216"/>
          </a:xfrm>
          <a:prstGeom prst="ellipse">
            <a:avLst/>
          </a:prstGeom>
          <a:solidFill>
            <a:srgbClr val="004E9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0671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077200" y="2715768"/>
            <a:ext cx="344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077200" y="3154680"/>
            <a:ext cx="344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[TODO], motivated by the position/extent measurement (slide 5)</a:t>
            </a:r>
            <a:endParaRPr lang="en-US" sz="1200" dirty="0"/>
          </a:p>
        </p:txBody>
      </p:sp>
      <p:pic>
        <p:nvPicPr>
          <p:cNvPr id="21" name="Image 0" descr="/Users/bellavg/ProjectsMSc/ai4mi_project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51B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51B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0:35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Performance: Unmodified Pipeline (CE Loss, 25 Epochs)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751B6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Split: 15 train / 5 val — val = patients 01, 11, 15, 17, 19</a:t>
            </a:r>
            <a:endParaRPr lang="en-US" sz="1600" dirty="0"/>
          </a:p>
          <a:p>
            <a:pPr lvl="1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Scores below are means over these 5 held-out scans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920" y="1783080"/>
            <a:ext cx="4160520" cy="2011680"/>
          </a:xfrm>
          <a:prstGeom prst="rect">
            <a:avLst/>
          </a:prstGeom>
          <a:solidFill>
            <a:srgbClr val="F1E6EF"/>
          </a:solidFill>
          <a:ln/>
        </p:spPr>
      </p:sp>
      <p:sp>
        <p:nvSpPr>
          <p:cNvPr id="9" name="Shape 7"/>
          <p:cNvSpPr/>
          <p:nvPr/>
        </p:nvSpPr>
        <p:spPr>
          <a:xfrm>
            <a:off x="7360920" y="1783080"/>
            <a:ext cx="54864" cy="2011680"/>
          </a:xfrm>
          <a:prstGeom prst="rect">
            <a:avLst/>
          </a:prstGeom>
          <a:solidFill>
            <a:srgbClr val="751B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35240" y="1965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51B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POSITIVE-SLICE DICE (PATIENT MEANS)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28600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Esophagus: 0.47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Heart: 0.58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Trachea: 0.50</a:t>
            </a:r>
            <a:endParaRPr lang="en-US" sz="1350" dirty="0"/>
          </a:p>
        </p:txBody>
      </p:sp>
      <p:pic>
        <p:nvPicPr>
          <p:cNvPr id="12" name="Image 0" descr="/Users/bellavg/ProjectsMSc/ai4mi_project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51B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51B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MODIFICATION &amp; RESULT — LARGEST RUBRIC WEIGHT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2:10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Modification: Motivation, Method &amp; Preliminary Result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751B68"/>
          </a:solidFill>
          <a:ln/>
        </p:spPr>
      </p:sp>
      <p:sp>
        <p:nvSpPr>
          <p:cNvPr id="7" name="Shape 5"/>
          <p:cNvSpPr/>
          <p:nvPr/>
        </p:nvSpPr>
        <p:spPr>
          <a:xfrm>
            <a:off x="1604772" y="1965960"/>
            <a:ext cx="585216" cy="585216"/>
          </a:xfrm>
          <a:prstGeom prst="ellipse">
            <a:avLst/>
          </a:prstGeom>
          <a:solidFill>
            <a:srgbClr val="751B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0477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157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[TODO], tied back to an exploration finding (slides 3–5)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63824" y="2194560"/>
            <a:ext cx="237744" cy="128016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93692" y="1965960"/>
            <a:ext cx="585216" cy="585216"/>
          </a:xfrm>
          <a:prstGeom prst="ellipse">
            <a:avLst/>
          </a:prstGeom>
          <a:solidFill>
            <a:srgbClr val="751B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9369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7157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15468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the modification tried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52744" y="2194560"/>
            <a:ext cx="237744" cy="128016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7" name="Shape 15"/>
          <p:cNvSpPr/>
          <p:nvPr/>
        </p:nvSpPr>
        <p:spPr>
          <a:xfrm>
            <a:off x="7182612" y="1965960"/>
            <a:ext cx="585216" cy="585216"/>
          </a:xfrm>
          <a:prstGeom prst="ellipse">
            <a:avLst/>
          </a:prstGeom>
          <a:solidFill>
            <a:srgbClr val="751B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8261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157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15468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vs. baseline — from the run in progress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41664" y="2194560"/>
            <a:ext cx="237744" cy="128016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9971532" y="1965960"/>
            <a:ext cx="585216" cy="585216"/>
          </a:xfrm>
          <a:prstGeom prst="ellipse">
            <a:avLst/>
          </a:prstGeom>
          <a:solidFill>
            <a:srgbClr val="751B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7153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27157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315468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one or two concrete next experiments</a:t>
            </a:r>
            <a:endParaRPr lang="en-US" sz="1200" dirty="0"/>
          </a:p>
        </p:txBody>
      </p:sp>
      <p:pic>
        <p:nvPicPr>
          <p:cNvPr id="26" name="Image 0" descr="/Users/bellavg/ProjectsMSc/ai4mi_project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C003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 &amp; Next Steps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9601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Done: dataset validation, exploration, baseline, preprocessing pipeline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progress: [TODO] first modified-loss / modified-preprocessing run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Next: [TODO] one or two concrete next experiments before the final deadline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B5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</a:t>
            </a:r>
            <a:endParaRPr lang="en-US" sz="2000" dirty="0"/>
          </a:p>
        </p:txBody>
      </p:sp>
      <p:pic>
        <p:nvPicPr>
          <p:cNvPr id="6" name="Image 0" descr="/Users/bellavg/ProjectsMSc/ai4mi_project/deck/assets/uva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 — BACKUP, NOT IN THE TIMED 6:40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A: Label Shape Variability Across Patients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463040"/>
            <a:ext cx="1005840" cy="3200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what this figure shows, patient by patient</a:t>
            </a:r>
            <a:endParaRPr lang="en-US" sz="160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F1D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[TODO] where aorta fits into that pattern</a:t>
            </a:r>
            <a:endParaRPr lang="en-US" sz="1600" dirty="0"/>
          </a:p>
          <a:p>
            <a:pPr lvl="1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Cut from the main 8 slides for time — pull in only if a question opens the door</a:t>
            </a:r>
            <a:endParaRPr lang="en-US" sz="1600" dirty="0"/>
          </a:p>
        </p:txBody>
      </p:sp>
      <p:pic>
        <p:nvPicPr>
          <p:cNvPr id="7" name="Image 0" descr="/Users/bellavg/ProjectsMSc/ai4mi_project/deck/assets/uv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46520"/>
            <a:ext cx="1371600" cy="137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for Medical Imaging</dc:creator>
  <cp:lastModifiedBy>AI for Medical Imaging</cp:lastModifiedBy>
  <cp:revision>1</cp:revision>
  <dcterms:created xsi:type="dcterms:W3CDTF">2026-09-19T14:09:09Z</dcterms:created>
  <dcterms:modified xsi:type="dcterms:W3CDTF">2026-09-19T14:09:09Z</dcterms:modified>
</cp:coreProperties>
</file>